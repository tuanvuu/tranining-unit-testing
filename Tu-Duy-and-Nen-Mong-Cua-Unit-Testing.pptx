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SemiBold"/>
      <p:regular r:id="rId201316"/>
    </p:embeddedFont>
    <p:embeddedFont>
      <p:font typeface="Instrument Sans Bold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EEE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image" Target="../media/image-6-6.png"/><Relationship Id="rId7" Type="http://schemas.openxmlformats.org/officeDocument/2006/relationships/image" Target="../media/image-6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96120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Tư Duy &amp; Nền Móng Của Unit Testing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794695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496119" y="3180978"/>
            <a:ext cx="1197843" cy="266402"/>
          </a:xfrm>
          <a:prstGeom prst="roundRect">
            <a:avLst>
              <a:gd name="adj" fmla="val 38315"/>
            </a:avLst>
          </a:prstGeom>
          <a:solidFill>
            <a:srgbClr val="CEE6FD"/>
          </a:solidFill>
          <a:ln/>
        </p:spPr>
      </p:sp>
      <p:sp>
        <p:nvSpPr>
          <p:cNvPr id="6" name="Text 3"/>
          <p:cNvSpPr/>
          <p:nvPr/>
        </p:nvSpPr>
        <p:spPr>
          <a:xfrm>
            <a:off x="581174" y="3223468"/>
            <a:ext cx="1484933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PHẦN 1 · CHƯƠNG 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1286321"/>
            <a:ext cx="5890989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Thực Trạng Unit Testing Hiện Tại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394022" y="1941909"/>
            <a:ext cx="4107135" cy="1915269"/>
          </a:xfrm>
          <a:prstGeom prst="roundRect">
            <a:avLst>
              <a:gd name="adj" fmla="val 10659"/>
            </a:avLst>
          </a:prstGeom>
          <a:solidFill>
            <a:srgbClr val="84C1FA"/>
          </a:solidFill>
          <a:ln/>
        </p:spPr>
      </p:sp>
      <p:sp>
        <p:nvSpPr>
          <p:cNvPr id="4" name="Text 2"/>
          <p:cNvSpPr/>
          <p:nvPr/>
        </p:nvSpPr>
        <p:spPr>
          <a:xfrm>
            <a:off x="535781" y="208366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🟢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Lúc Đầu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35781" y="2446883"/>
            <a:ext cx="3823618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Code chạy mượt, tính năng ra nhanh. Lập trình viên tự tin và kiểm soát được hệ thống.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5781" y="3028057"/>
            <a:ext cx="3823618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Phát triển nhanh, ít trở ngại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viết nhanh, chạy xanh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Tinh thần đội ngũ cao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749701" y="2083668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Sau 1 Năm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4749701" y="2446883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Hệ thống phình to, code rối rắm. Sợ sửa code vì hàng tá bài test "đỏ rực" dù logic thật vẫn đúng.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49701" y="3028057"/>
            <a:ext cx="3902943" cy="7795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Test mong manh, dễ vỡ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Chi phí bảo trì tăng vọt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Đội ngũ mất niềm tin vào test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51172"/>
            <a:ext cx="683106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Mục Tiêu Tối Thượng Của Unit Testing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77677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Mục tiêu không phải là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tìm bug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mà là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thúc đẩy sự phát triển bền vững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của dự án.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723430"/>
            <a:ext cx="3902943" cy="28093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749701" y="1705719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Không có bộ test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749701" y="2068934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Chi phí bảo trì tăng theo cấp số nhân — khủng hoảng kỹ thuật không tránh khỏi.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749701" y="2664321"/>
            <a:ext cx="22292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Có bộ test tốt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4749701" y="3027536"/>
            <a:ext cx="390294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Chi phí ổn định xuyên suốt vòng đời. Tự tin refactor, mở rộng và sửa lỗi.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23788"/>
            <a:ext cx="5856536" cy="4083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Cái Bẫy Mang Tên "Code Coverage"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496119" y="1073125"/>
            <a:ext cx="8608963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Công thức tính coverage: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96119" y="1426443"/>
            <a:ext cx="8151763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endParaRPr lang="en-US" sz="115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426443"/>
            <a:ext cx="8151763" cy="47625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96119" y="2175644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Vấn đề cốt lõi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496119" y="2500238"/>
            <a:ext cx="3916487" cy="602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Chỉ số này </a:t>
            </a:r>
            <a:pPr algn="l" indent="0" marL="0">
              <a:lnSpc>
                <a:spcPct val="12800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cực kỳ dễ bị thao túng</a:t>
            </a:r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và không phản ánh chất lượng bộ test. Một bài test có thể đạt 100% coverage nhưng hoàn toàn vô giá trị.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96119" y="3238277"/>
            <a:ext cx="3916487" cy="483022"/>
          </a:xfrm>
          <a:prstGeom prst="roundRect">
            <a:avLst>
              <a:gd name="adj" fmla="val 24351"/>
            </a:avLst>
          </a:prstGeom>
          <a:solidFill>
            <a:srgbClr val="FCF2B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790" y="3434879"/>
            <a:ext cx="163339" cy="1306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20800" y="3379366"/>
            <a:ext cx="3818334" cy="200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Coverage cao ≠ Test tốt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4736157" y="2175644"/>
            <a:ext cx="2090812" cy="2041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Ví dụ minh họa (C#)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4736157" y="2515270"/>
            <a:ext cx="3916487" cy="2068934"/>
          </a:xfrm>
          <a:prstGeom prst="roundRect">
            <a:avLst>
              <a:gd name="adj" fmla="val 5685"/>
            </a:avLst>
          </a:prstGeom>
          <a:solidFill>
            <a:srgbClr val="F2F2F2"/>
          </a:solidFill>
          <a:ln/>
        </p:spPr>
      </p:sp>
      <p:sp>
        <p:nvSpPr>
          <p:cNvPr id="13" name="Shape 9"/>
          <p:cNvSpPr/>
          <p:nvPr/>
        </p:nvSpPr>
        <p:spPr>
          <a:xfrm>
            <a:off x="4729683" y="2515270"/>
            <a:ext cx="3929435" cy="2068934"/>
          </a:xfrm>
          <a:prstGeom prst="roundRect">
            <a:avLst>
              <a:gd name="adj" fmla="val 948"/>
            </a:avLst>
          </a:prstGeom>
          <a:solidFill>
            <a:srgbClr val="F2F2F2"/>
          </a:solidFill>
          <a:ln/>
        </p:spPr>
      </p:sp>
      <p:sp>
        <p:nvSpPr>
          <p:cNvPr id="14" name="Text 10"/>
          <p:cNvSpPr/>
          <p:nvPr/>
        </p:nvSpPr>
        <p:spPr>
          <a:xfrm>
            <a:off x="4893022" y="2645941"/>
            <a:ext cx="3602757" cy="1807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Hàm chạy thật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int Calculate(int x, int y) =&gt; x + y;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// Bài test đạt 100% Coverage nhưng VÔ GIÁ TRỊ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[Fact]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public void TestCalculate() {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var result = Calculate(1, 2);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 // Hoàn toàn không có lệnh Assert!</a:t>
            </a:r>
            <a:endParaRPr lang="en-US" sz="100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000" dirty="0">
                <a:solidFill>
                  <a:srgbClr val="6A737D"/>
                </a:solidFill>
                <a:highlight>
                  <a:srgbClr val="F2F2F2"/>
                </a:highlight>
                <a:latin typeface="Consolas Medium" pitchFamily="34" charset="0"/>
                <a:ea typeface="Consolas Medium" pitchFamily="34" charset="-122"/>
                <a:cs typeface="Consolas Medium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3576"/>
            <a:ext cx="4270995" cy="2284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Branch Coverage – Khá Hơn Nhưng Chưa Đủ</a:t>
            </a:r>
            <a:endParaRPr lang="en-US" sz="1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720849"/>
            <a:ext cx="3986733" cy="39867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65911" y="2363093"/>
            <a:ext cx="1438052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Branch Coverage là gì?</a:t>
            </a:r>
            <a:endParaRPr lang="en-US" sz="700" dirty="0"/>
          </a:p>
        </p:txBody>
      </p:sp>
      <p:sp>
        <p:nvSpPr>
          <p:cNvPr id="5" name="Text 2"/>
          <p:cNvSpPr/>
          <p:nvPr/>
        </p:nvSpPr>
        <p:spPr>
          <a:xfrm>
            <a:off x="4665911" y="2514972"/>
            <a:ext cx="4443933" cy="933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Tập trung vào việc bao phủ các nhánh rẽ (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if/else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1E3063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switch</a:t>
            </a:r>
            <a:pPr algn="l" indent="0" marL="0">
              <a:lnSpc>
                <a:spcPct val="101000"/>
              </a:lnSpc>
              <a:buNone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— đảm bảo mỗi nhánh được thực thi ít nhất một lần.</a:t>
            </a:r>
            <a:endParaRPr lang="en-US" sz="550" dirty="0"/>
          </a:p>
        </p:txBody>
      </p:sp>
      <p:sp>
        <p:nvSpPr>
          <p:cNvPr id="6" name="Text 3"/>
          <p:cNvSpPr/>
          <p:nvPr/>
        </p:nvSpPr>
        <p:spPr>
          <a:xfrm>
            <a:off x="4665911" y="2645941"/>
            <a:ext cx="1370930" cy="1142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Tại sao chưa đủ?</a:t>
            </a:r>
            <a:endParaRPr lang="en-US" sz="700" dirty="0"/>
          </a:p>
        </p:txBody>
      </p:sp>
      <p:sp>
        <p:nvSpPr>
          <p:cNvPr id="7" name="Text 4"/>
          <p:cNvSpPr/>
          <p:nvPr/>
        </p:nvSpPr>
        <p:spPr>
          <a:xfrm>
            <a:off x="4665911" y="2797820"/>
            <a:ext cx="3986733" cy="2920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Bỏ sót các 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edge cases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(trường hợp biên)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Không kiểm tra tương tác với 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thư viện bên thứ ba</a:t>
            </a:r>
            <a:endParaRPr lang="en-US" sz="550" dirty="0"/>
          </a:p>
          <a:p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Không đảm bảo 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giá trị kết quả</a:t>
            </a:r>
            <a:pPr algn="l" marL="111760" indent="-111760">
              <a:lnSpc>
                <a:spcPct val="101000"/>
              </a:lnSpc>
              <a:buSzPct val="100000"/>
              <a:buChar char="•"/>
            </a:pPr>
            <a:r>
              <a:rPr lang="en-US" sz="5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đúng — chỉ đảm bảo nhánh đã chạy</a:t>
            </a:r>
            <a:endParaRPr lang="en-US" sz="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43550" y="0"/>
            <a:ext cx="360045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517252"/>
            <a:ext cx="4722763" cy="8306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Thế Nào Là Một Bộ Test Thành Công?</a:t>
            </a:r>
            <a:endParaRPr lang="en-US" sz="2600" dirty="0"/>
          </a:p>
        </p:txBody>
      </p:sp>
      <p:sp>
        <p:nvSpPr>
          <p:cNvPr id="4" name="Shape 1"/>
          <p:cNvSpPr/>
          <p:nvPr/>
        </p:nvSpPr>
        <p:spPr>
          <a:xfrm>
            <a:off x="496119" y="1534716"/>
            <a:ext cx="2299097" cy="1689422"/>
          </a:xfrm>
          <a:prstGeom prst="roundRect">
            <a:avLst>
              <a:gd name="adj" fmla="val 7080"/>
            </a:avLst>
          </a:prstGeom>
          <a:solidFill>
            <a:srgbClr val="CEE6FD"/>
          </a:solidFill>
          <a:ln/>
        </p:spPr>
      </p:sp>
      <p:sp>
        <p:nvSpPr>
          <p:cNvPr id="5" name="Shape 2"/>
          <p:cNvSpPr/>
          <p:nvPr/>
        </p:nvSpPr>
        <p:spPr>
          <a:xfrm>
            <a:off x="629022" y="1667619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84C1F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8634" y="1777231"/>
            <a:ext cx="179412" cy="17941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9022" y="219089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Tích Hợp Sâu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629022" y="2473300"/>
            <a:ext cx="203329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Được chạy tự động trong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mọi chu trình CI/CD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không có ngoại lệ, không bỏ qua.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919785" y="1534716"/>
            <a:ext cx="2299097" cy="1689422"/>
          </a:xfrm>
          <a:prstGeom prst="roundRect">
            <a:avLst>
              <a:gd name="adj" fmla="val 7080"/>
            </a:avLst>
          </a:prstGeom>
          <a:solidFill>
            <a:srgbClr val="CEE6FD"/>
          </a:solidFill>
          <a:ln/>
        </p:spPr>
      </p:sp>
      <p:sp>
        <p:nvSpPr>
          <p:cNvPr id="10" name="Shape 6"/>
          <p:cNvSpPr/>
          <p:nvPr/>
        </p:nvSpPr>
        <p:spPr>
          <a:xfrm>
            <a:off x="3052688" y="1667619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84C1F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162300" y="1777231"/>
            <a:ext cx="179412" cy="17941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052688" y="2190899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Tập Trung Đúng Chỗ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3052688" y="2473300"/>
            <a:ext cx="2033290" cy="617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Ưu tiên test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Domain Logic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và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Business Rules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— phần tạo ra giá trị thực cho hệ thống.</a:t>
            </a:r>
            <a:endParaRPr lang="en-US" sz="1000" dirty="0"/>
          </a:p>
        </p:txBody>
      </p:sp>
      <p:sp>
        <p:nvSpPr>
          <p:cNvPr id="14" name="Shape 9"/>
          <p:cNvSpPr/>
          <p:nvPr/>
        </p:nvSpPr>
        <p:spPr>
          <a:xfrm>
            <a:off x="496119" y="3348707"/>
            <a:ext cx="4722763" cy="1277466"/>
          </a:xfrm>
          <a:prstGeom prst="roundRect">
            <a:avLst>
              <a:gd name="adj" fmla="val 9364"/>
            </a:avLst>
          </a:prstGeom>
          <a:solidFill>
            <a:srgbClr val="CEE6FD"/>
          </a:solidFill>
          <a:ln/>
        </p:spPr>
      </p:sp>
      <p:sp>
        <p:nvSpPr>
          <p:cNvPr id="15" name="Shape 10"/>
          <p:cNvSpPr/>
          <p:nvPr/>
        </p:nvSpPr>
        <p:spPr>
          <a:xfrm>
            <a:off x="629022" y="3481611"/>
            <a:ext cx="398711" cy="398711"/>
          </a:xfrm>
          <a:prstGeom prst="roundRect">
            <a:avLst>
              <a:gd name="adj" fmla="val 14332257"/>
            </a:avLst>
          </a:prstGeom>
          <a:solidFill>
            <a:srgbClr val="84C1F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8634" y="3591223"/>
            <a:ext cx="179412" cy="17941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29022" y="4004890"/>
            <a:ext cx="1661294" cy="2076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1E306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Giá Trị &gt; Chi Phí</a:t>
            </a:r>
            <a:endParaRPr lang="en-US" sz="1300" dirty="0"/>
          </a:p>
        </p:txBody>
      </p:sp>
      <p:sp>
        <p:nvSpPr>
          <p:cNvPr id="18" name="Text 12"/>
          <p:cNvSpPr/>
          <p:nvPr/>
        </p:nvSpPr>
        <p:spPr>
          <a:xfrm>
            <a:off x="629022" y="4287292"/>
            <a:ext cx="4456956" cy="2059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Mang lại </a:t>
            </a:r>
            <a:pPr algn="l" indent="0" marL="0">
              <a:lnSpc>
                <a:spcPct val="129000"/>
              </a:lnSpc>
              <a:buNone/>
            </a:pPr>
            <a:r>
              <a:rPr lang="en-US" sz="1000" b="1" dirty="0">
                <a:solidFill>
                  <a:srgbClr val="1E3063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sự tự tin tối đa</a:t>
            </a:r>
            <a:pPr algn="l" indent="0" marL="0">
              <a:lnSpc>
                <a:spcPct val="129000"/>
              </a:lnSpc>
              <a:buNone/>
            </a:pPr>
            <a:r>
              <a:rPr lang="en-US" sz="1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nhưng tốn rất ít công sức để bảo trì và cập nhật.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0045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925119" y="1180579"/>
            <a:ext cx="1349350" cy="266402"/>
          </a:xfrm>
          <a:prstGeom prst="roundRect">
            <a:avLst>
              <a:gd name="adj" fmla="val 38315"/>
            </a:avLst>
          </a:prstGeom>
          <a:noFill/>
          <a:ln/>
          <a:effectLst>
            <a:outerShdw sx="100000" sy="100000" kx="0" ky="0" algn="bl" rotWithShape="0" blurRad="101600" dist="50800" dir="16200000">
              <a:srgbClr val="84c1fa">
                <a:alpha val="100000"/>
              </a:srgbClr>
            </a:outerShdw>
          </a:effectLst>
        </p:spPr>
      </p:sp>
      <p:sp>
        <p:nvSpPr>
          <p:cNvPr id="4" name="Text 1"/>
          <p:cNvSpPr/>
          <p:nvPr/>
        </p:nvSpPr>
        <p:spPr>
          <a:xfrm>
            <a:off x="4010174" y="1223070"/>
            <a:ext cx="1636440" cy="1814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850" dirty="0">
                <a:solidFill>
                  <a:srgbClr val="84C1FA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TỔNG KẾT CHƯƠNG 1</a:t>
            </a:r>
            <a:endParaRPr lang="en-US" sz="850" dirty="0"/>
          </a:p>
        </p:txBody>
      </p:sp>
      <p:sp>
        <p:nvSpPr>
          <p:cNvPr id="5" name="Shape 2"/>
          <p:cNvSpPr/>
          <p:nvPr/>
        </p:nvSpPr>
        <p:spPr>
          <a:xfrm>
            <a:off x="3925119" y="1606451"/>
            <a:ext cx="19050" cy="2196926"/>
          </a:xfrm>
          <a:prstGeom prst="roundRect">
            <a:avLst>
              <a:gd name="adj" fmla="val 60000"/>
            </a:avLst>
          </a:prstGeom>
          <a:solidFill>
            <a:srgbClr val="84C1FA"/>
          </a:solidFill>
          <a:ln/>
        </p:spPr>
      </p:sp>
      <p:sp>
        <p:nvSpPr>
          <p:cNvPr id="6" name="Text 3"/>
          <p:cNvSpPr/>
          <p:nvPr/>
        </p:nvSpPr>
        <p:spPr>
          <a:xfrm>
            <a:off x="4137720" y="1819052"/>
            <a:ext cx="4510162" cy="17717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"Đừng chạy theo những con số phần trăm độ bao phủ vô hồn. Hãy tập trung vào </a:t>
            </a:r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84C1FA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giá trị thực tế</a:t>
            </a:r>
            <a:pPr algn="l" indent="0" marL="0">
              <a:lnSpc>
                <a:spcPct val="10400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Bold" pitchFamily="34" charset="0"/>
                <a:ea typeface="Instrument Sans SemiBold" pitchFamily="34" charset="-122"/>
                <a:cs typeface="Instrument Sans SemiBold" pitchFamily="34" charset="-120"/>
              </a:rPr>
              <a:t> mà mỗi bài test mang lại cho hệ thống của bạn."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2026-06-24T23:51:24Z</dcterms:created>
  <dcterms:modified xsi:type="dcterms:W3CDTF">2026-06-24T23:51:24Z</dcterms:modified>
</cp:coreProperties>
</file>