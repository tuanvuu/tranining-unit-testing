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98" r:id="rId5"/>
    <p:sldId id="260" r:id="rId6"/>
    <p:sldId id="29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00" r:id="rId16"/>
    <p:sldId id="271" r:id="rId17"/>
    <p:sldId id="310" r:id="rId18"/>
    <p:sldId id="307" r:id="rId19"/>
    <p:sldId id="274" r:id="rId20"/>
    <p:sldId id="308" r:id="rId21"/>
    <p:sldId id="276" r:id="rId22"/>
    <p:sldId id="277" r:id="rId23"/>
    <p:sldId id="278" r:id="rId24"/>
    <p:sldId id="279" r:id="rId25"/>
    <p:sldId id="280" r:id="rId26"/>
    <p:sldId id="281" r:id="rId27"/>
    <p:sldId id="301" r:id="rId28"/>
    <p:sldId id="283" r:id="rId29"/>
    <p:sldId id="284" r:id="rId30"/>
    <p:sldId id="285" r:id="rId31"/>
    <p:sldId id="286" r:id="rId32"/>
    <p:sldId id="311" r:id="rId33"/>
    <p:sldId id="314" r:id="rId34"/>
    <p:sldId id="315" r:id="rId35"/>
    <p:sldId id="316" r:id="rId36"/>
    <p:sldId id="291" r:id="rId37"/>
    <p:sldId id="313" r:id="rId38"/>
    <p:sldId id="309" r:id="rId39"/>
    <p:sldId id="294" r:id="rId40"/>
    <p:sldId id="295" r:id="rId41"/>
    <p:sldId id="305" r:id="rId42"/>
    <p:sldId id="306" r:id="rId43"/>
  </p:sldIdLst>
  <p:sldSz cx="12192000" cy="6858000"/>
  <p:notesSz cx="6858000" cy="12192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Instrument Sans Bold" panose="020B0604020202020204" charset="0"/>
      <p:regular r:id="rId49"/>
    </p:embeddedFont>
    <p:embeddedFont>
      <p:font typeface="Instrument Sans Medium" panose="020B0604020202020204" charset="0"/>
      <p:regular r:id="rId50"/>
    </p:embeddedFont>
    <p:embeddedFont>
      <p:font typeface="Instrument Sans SemiBold" panose="020B0604020202020204" charset="0"/>
      <p:regular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94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57115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Unit Testing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(Phần 2)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153966"/>
            <a:ext cx="6296860" cy="70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 trụ cột của unit test </a:t>
            </a:r>
            <a:r>
              <a:rPr lang="en-US" sz="1950" dirty="0" err="1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tốt</a:t>
            </a:r>
            <a:endParaRPr lang="en-US" sz="1950" dirty="0">
              <a:solidFill>
                <a:srgbClr val="091C5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· Dùng mock đúng </a:t>
            </a:r>
            <a:r>
              <a:rPr lang="en-US" sz="1950" dirty="0" err="1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cách</a:t>
            </a:r>
            <a:r>
              <a:rPr lang="en-US" sz="1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· Refactor trong thực tế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4022130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 17+ · JUnit 5 · Mockito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40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Ôn Tập Nhanh &amp; Mục Tiêu Hôm Nay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488181"/>
            <a:ext cx="5470785" cy="4316214"/>
          </a:xfrm>
          <a:prstGeom prst="roundRect">
            <a:avLst>
              <a:gd name="adj" fmla="val 5518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65347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Ôn Tập Từ Phần 1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720" y="2103040"/>
            <a:ext cx="248041" cy="248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5065" y="2097979"/>
            <a:ext cx="46028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Trường phái Classical (Detroit)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45065" y="2521743"/>
            <a:ext cx="4602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Ưu tiên kiểm tra hành vi hệ thống thay vì kiểm tra từng class riêng lẻ.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720" y="3386733"/>
            <a:ext cx="248041" cy="248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5065" y="3381672"/>
            <a:ext cx="46028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Kiểm Tra Hành Vi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45065" y="3805436"/>
            <a:ext cx="4602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phải phản ánh những gì hệ thống làm cho user, không phải cách nó làm.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720" y="4670425"/>
            <a:ext cx="248041" cy="248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5065" y="4665365"/>
            <a:ext cx="46028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Cấu Trúc AAA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245065" y="5089127"/>
            <a:ext cx="4602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Tuân thủ nghiêm ngặt Arrange–Act–Assert với khối Act chỉ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 dòng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03904" y="165347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Mục Tiêu Hôm Nay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914" y="2103040"/>
            <a:ext cx="248041" cy="2480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41259" y="2097979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Đánh Giá &amp; Refactor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841259" y="2521743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Từ viết test đúng cấu trúc → đánh giá giá trị thực của từng test.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914" y="3386733"/>
            <a:ext cx="248041" cy="2480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41259" y="3381672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 là Tài Sản hay Gánh Nặng?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41259" y="3805436"/>
            <a:ext cx="469531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Đánh giá giá trị (ROI) của một test dựa trên 4 trụ cột.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914" y="4405809"/>
            <a:ext cx="248041" cy="24804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41259" y="440074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Refactor code khó test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41259" y="4824511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Áp dụng Humble Object Pattern và Functional Architecture trong thực tế.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437209"/>
            <a:ext cx="903166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0691" y="2486819"/>
            <a:ext cx="131431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CHƯƠNG 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75470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Bốn Trụ Cột của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Unit Test Tốt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909516" y="3705523"/>
            <a:ext cx="604881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"Không phải test nào cũng có giá trị như nhau. Một bộ test tồi còn tệ hơn không có test."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519487"/>
            <a:ext cx="19050" cy="901303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0942"/>
            <a:ext cx="859213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0552"/>
            <a:ext cx="127036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TRỤ CỘT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18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Khả năng chống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regression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32049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Định nghĩa: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Mức độ test phát hiện được regression — tức là chức năng đang chạy đúng bị lỗi sau khi sửa code.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47316"/>
            <a:ext cx="5232666" cy="627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253166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Độ phức tạp của code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39777"/>
            <a:ext cx="5232666" cy="627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2017" y="332412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Lượng code được thực thi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32238"/>
            <a:ext cx="5232666" cy="627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4116586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Mức độ quan trọng về nghiệp vụ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904" y="1669256"/>
            <a:ext cx="5232666" cy="34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3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7094"/>
            <a:ext cx="880644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6704"/>
            <a:ext cx="129179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TRỤ CỘT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45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Khả năng chống chịu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refactoring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48937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Định nghĩa: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Khả năng test vẫn pass khi bạn thay đổi chi tiết triển khai nội bộ mà không thay đổi hành vi bên ngoài.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1940024"/>
            <a:ext cx="3512653" cy="1746746"/>
          </a:xfrm>
          <a:prstGeom prst="roundRect">
            <a:avLst>
              <a:gd name="adj" fmla="val 85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2105322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Mục Tiêu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2463006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Ngăn chặn false positive — test fail dù tính năng vẫn hoạt động đúng.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1940024"/>
            <a:ext cx="3512752" cy="1746746"/>
          </a:xfrm>
          <a:prstGeom prst="roundRect">
            <a:avLst>
              <a:gd name="adj" fmla="val 85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4716" y="2105322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Hậu Quả Khi Thiếu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4716" y="2463006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Nếu test fail mỗi khi bạn tối ưu code, developer sẽ dần xóa hoặc bỏ qua toàn bộ test suite.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7468" y="1940024"/>
            <a:ext cx="3512653" cy="1746746"/>
          </a:xfrm>
          <a:prstGeom prst="roundRect">
            <a:avLst>
              <a:gd name="adj" fmla="val 85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2762" y="2105322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Cách Đạt Được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2463006"/>
            <a:ext cx="3182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chỉ gắn với hành vi quan sát được (observable behavior) từ bên ngoài, không phải chi tiết triển khai nội bộ hay cấu trúc class.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3872804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112518"/>
            <a:ext cx="206667" cy="16529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98731" y="407937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Lạm dụng mock là nguyên nhân hàng đầu khiến test suite dễ vỡ (brittle).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475" y="4720134"/>
            <a:ext cx="10868745" cy="1349673"/>
          </a:xfrm>
          <a:prstGeom prst="roundRect">
            <a:avLst>
              <a:gd name="adj" fmla="val 1102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4949031"/>
            <a:ext cx="258359" cy="20667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50423" y="4926706"/>
            <a:ext cx="1011450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Đặc điểm khác biệt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250423" y="5350470"/>
            <a:ext cx="1011450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Đây là thuộc tính gần như 'có hoặc không', không đánh đổi từng phần được. Test hoặc gắn với hành vi → không vỡ khi refactor, hoặc phụ thuộc vào implementation → vỡ khi refactor. Vì vậy: ưu tiên số 1 — loại bỏ test dễ vỡ (brittle) trước tiên.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00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Trụ Cột 3 &amp; 4: Phản Hồi Nhanh &amp;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Khả Năng Bảo Trì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494829"/>
            <a:ext cx="5470785" cy="3159820"/>
          </a:xfrm>
          <a:prstGeom prst="roundRect">
            <a:avLst>
              <a:gd name="adj" fmla="val 7537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07710" y="1680865"/>
            <a:ext cx="884116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6926" y="1730474"/>
            <a:ext cx="129526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TRỤ CỘT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7710" y="199836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Phản Hồi Nhanh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2422127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phải chạy trong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mili-giây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để developer có thể chạy thường xuyên mà không bị gián đoạn luồng làm việc.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100188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Unit test không được gọi network, database, hay filesystem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chậm sẽ ít được chạy → giảm giá trị của CI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Mục tiêu: toàn bộ test suite chạy dưới 30 giây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3904" y="1680865"/>
            <a:ext cx="888085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3120" y="1730474"/>
            <a:ext cx="129923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TRỤ CỘT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3904" y="199836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Khả Năng Bảo Trì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3904" y="2422127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Đo lường mức độ dễ hiểu và dễ chỉnh sửa của test code — test khó đọc là test không được tin tưởng.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3904" y="3100188"/>
            <a:ext cx="5232666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đóng vai trò tài liệu sống (living documentation) — phải đủ rõ để đọc hiểu không cần giải thích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Tránh setup dữ liệu thừa (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test data bloat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Mỗi test chỉ nên kiểm tra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một hành vi duy nhất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dễ chạy — không phụ thuộc DB hay service bên ngoài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7149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78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 Trận Đánh Đổi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Cơ Bản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6527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Thực tế: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không thể tối đa hóa cùng lúc cả 3 trụ cột đầu. Mỗi loại test có điểm mạnh và điểm yếu riêng — hiểu rõ điều này để chọn đúng công cụ.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4212"/>
              </p:ext>
            </p:extLst>
          </p:nvPr>
        </p:nvGraphicFramePr>
        <p:xfrm>
          <a:off x="661475" y="2015927"/>
          <a:ext cx="10868744" cy="2451238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35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Loại Test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Khả năng chống regression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Khả năng chống chịu refactoring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Tốc Độ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End-to-End Tests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Cao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Cao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Chậm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Unit test quá đơn giản (trivial test)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Gần như không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Cao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Nhanh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Test dễ vỡ (lạm dụng mock)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Cao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Kém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Nhanh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4665959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05672"/>
            <a:ext cx="206667" cy="165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731" y="487253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Mục tiêu lý tưởng: unit test kiểm tra domain logic — vừa chống regression tốt, vừa bền vững khi refactor.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9376"/>
            <a:ext cx="1661178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8985"/>
            <a:ext cx="207233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CHƯƠNG 4 — BỔ SUNG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68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 Pyramid — Phân Tầng Test Theo Mục Tiêu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895" y="1491654"/>
            <a:ext cx="1793334" cy="952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62231" y="1940818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440523" y="1656952"/>
            <a:ext cx="692440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End-to-End Tests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40523" y="2014636"/>
            <a:ext cx="692440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Ít nhất · Chậm nhất (phút) · Chỉ dùng cho các luồng nghiệp vụ quan trọng nhất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16503" y="2457252"/>
            <a:ext cx="7172443" cy="9525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278" y="2485827"/>
            <a:ext cx="3586668" cy="9528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2231" y="2816920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337240" y="2651125"/>
            <a:ext cx="602768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Integration Tests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37240" y="3008809"/>
            <a:ext cx="60276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Tốc độ trung bình (giây) · Kiểm tra phần tích hợp với DB/API/file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13220" y="3451422"/>
            <a:ext cx="6275727" cy="9525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61" y="3479997"/>
            <a:ext cx="5380002" cy="9528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62231" y="3811091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233857" y="3645297"/>
            <a:ext cx="51310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33857" y="4002979"/>
            <a:ext cx="513106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Nhiều nhất · Nhanh nhất (mili-giây) · Domain Logic &amp; Business Rules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1475" y="4618929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69" y="4858643"/>
            <a:ext cx="206667" cy="1652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98731" y="482550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Nguyên tắc cốt lõi: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khả năng chống chịu refactoring phải được duy trì ở cả 3 tầng — không được đánh đổi ở bất kỳ tầng nào.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6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Black-box vs White-box —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Viết Test Như Thế Nào?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487388"/>
            <a:ext cx="5470785" cy="1821061"/>
          </a:xfrm>
          <a:prstGeom prst="roundRect">
            <a:avLst>
              <a:gd name="adj" fmla="val 13078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65268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White-box Testing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076450"/>
            <a:ext cx="5140196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Dựa vào cấu trúc bên trong → test bám theo implementation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Ưu điểm: dễ tìm bug trong code phức tạp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Nhược điểm: khả năng chống chịu refactoring kém — test vỡ khi refactor dù behavior đúng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165268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Black-box Testing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076450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quan tâm internals → chỉ verify observable behavior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Ưu điểm: test bền vững, không vỡ khi refactor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Nhược điểm: đôi khi bỏ sót một số edge case ẩn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264632"/>
              </p:ext>
            </p:extLst>
          </p:nvPr>
        </p:nvGraphicFramePr>
        <p:xfrm>
          <a:off x="661475" y="3494484"/>
          <a:ext cx="10868745" cy="1439926"/>
        </p:xfrm>
        <a:graphic>
          <a:graphicData uri="http://schemas.openxmlformats.org/drawingml/2006/table">
            <a:tbl>
              <a:tblPr/>
              <a:tblGrid>
                <a:gridCol w="3695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6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Khả Năng Chống Regression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Khả Năng Chống Chịu Refactoring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White-box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Tốt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Kém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Black-box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Trung bình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Tốt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61475" y="5133181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72893"/>
            <a:ext cx="206667" cy="1652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98731" y="5339754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Quy Tắc Vàng: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Mặc định dùng black-box khi viết test, dùng white-box khi phân tích test (ví dụ xem coverage). Nếu một test không truy ngược được về yêu cầu nghiệp vụ nào → đó là dấu hiệu test đang bám vào implementation.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401340"/>
            <a:ext cx="1001291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0691" y="450949"/>
            <a:ext cx="141244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 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718840"/>
            <a:ext cx="6296860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🖥️</a:t>
            </a: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Review code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trực tiếp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14963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1758254"/>
            <a:ext cx="3065783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1475" y="1879004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Đánh Giá Test Trực Tiếp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2236688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Áp dụng ma trận 4 trụ cột lên một Java method phức tạp với nhiều external dependency được mock qua Mockito.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92552" y="14963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92552" y="1758254"/>
            <a:ext cx="3065783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92552" y="1879004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Demo test dễ vỡ (brittle test)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92552" y="2236688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Một thay đổi nhỏ — ví dụ tách hoặc đổi tên method nội bộ — làm hàng loạt test fail dù logic nghiệp vụ vẫn đúng.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2437209"/>
            <a:ext cx="899296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32577" y="2486819"/>
            <a:ext cx="131044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CHƯƠNG 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75470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 và Tính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Dễ Vỡ</a:t>
            </a: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của Test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5481401" y="3705523"/>
            <a:ext cx="604881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"Lạm dụng mock là nguyên nhân hàng đầu khiến test dễ vỡ. Hãy dùng mock đúng chỗ."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3519487"/>
            <a:ext cx="19050" cy="901303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618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Phân Biệt Test Double: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 vs. Stub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73609"/>
            <a:ext cx="10868745" cy="1845965"/>
          </a:xfrm>
          <a:prstGeom prst="roundRect">
            <a:avLst>
              <a:gd name="adj" fmla="val 80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1475" y="1573609"/>
            <a:ext cx="5434373" cy="1845965"/>
          </a:xfrm>
          <a:custGeom>
            <a:avLst/>
            <a:gdLst/>
            <a:ahLst/>
            <a:cxnLst/>
            <a:rect l="l" t="t" r="r" b="b"/>
            <a:pathLst>
              <a:path w="5434373" h="1845965">
                <a:moveTo>
                  <a:pt x="124044" y="0"/>
                </a:moveTo>
                <a:lnTo>
                  <a:pt x="5434373" y="0"/>
                </a:lnTo>
                <a:lnTo>
                  <a:pt x="5434373" y="1845965"/>
                </a:lnTo>
                <a:lnTo>
                  <a:pt x="124044" y="1845965"/>
                </a:lnTo>
                <a:arcTo wR="124044" hR="124047" stAng="5400000" swAng="5400000"/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769" y="173890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 — Tương Tác Outgoing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2096590"/>
            <a:ext cx="5103784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để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xác minh tương tác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từ SUT đến external collaborator. Có thể verify tương tác trên mock.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Ví dụ: Xác minh rằng email đã được gửi qua SMTP gateway đúng 1 lần.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73609"/>
            <a:ext cx="5434373" cy="1845965"/>
          </a:xfrm>
          <a:custGeom>
            <a:avLst/>
            <a:gdLst/>
            <a:ahLst/>
            <a:cxnLst/>
            <a:rect l="l" t="t" r="r" b="b"/>
            <a:pathLst>
              <a:path w="5434373" h="1845965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1721918"/>
                </a:lnTo>
                <a:arcTo wR="124044" hR="124047" stAng="0" swAng="5400000"/>
                <a:lnTo>
                  <a:pt x="0" y="1845965"/>
                </a:lnTo>
                <a:lnTo>
                  <a:pt x="0" y="0"/>
                </a:lnTo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5848" y="1573609"/>
            <a:ext cx="19050" cy="1845965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1142" y="173890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Stub — Dữ Liệu Incoming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1142" y="2096590"/>
            <a:ext cx="5103784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để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cung cấp dữ liệu trả về định sẵn (canned answer)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cho các lời gọi từ SUT. Không bao giờ verify stub.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Ví dụ: Trả về một User giả từ repository đã được stub để test có dữ liệu làm việc.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605609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3845322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98731" y="3812183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Quy tắc vàng: KHÔNG BAO GIỜ verify tương tác với stub! Làm vậy sẽ khiến test phụ thuộc vào cách lấy dữ liệu (implementation detail) — tạo ra false positive ngay khi refactor.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4019"/>
            <a:ext cx="1354997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3627"/>
            <a:ext cx="176614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NGUYÊN TẮC CQS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1519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Command-Query Separation — Khi Nào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Mock, Khi Nào Stub?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2003027"/>
            <a:ext cx="10868745" cy="2937470"/>
          </a:xfrm>
          <a:prstGeom prst="roundRect">
            <a:avLst>
              <a:gd name="adj" fmla="val 506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2003027"/>
            <a:ext cx="5434373" cy="2937470"/>
          </a:xfrm>
          <a:custGeom>
            <a:avLst/>
            <a:gdLst/>
            <a:ahLst/>
            <a:cxnLst/>
            <a:rect l="l" t="t" r="r" b="b"/>
            <a:pathLst>
              <a:path w="5434373" h="2937470">
                <a:moveTo>
                  <a:pt x="124044" y="0"/>
                </a:moveTo>
                <a:lnTo>
                  <a:pt x="5434373" y="0"/>
                </a:lnTo>
                <a:lnTo>
                  <a:pt x="5434373" y="2937470"/>
                </a:lnTo>
                <a:lnTo>
                  <a:pt x="124044" y="2937470"/>
                </a:lnTo>
                <a:arcTo wR="124044" hR="124047" stAng="5400000" swAng="5400000"/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2168327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COMMAND → MOCK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2526009"/>
            <a:ext cx="5103784" cy="224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Có side effect, không trả về giá trị (void).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Ví dụ: sendEmail(), publishEvent(), notifyExternalApi().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verify() để kiểm tra đã được gọi.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Đây là outgoing interaction cần xác minh.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Chỉ mock command hướng ra unmanaged dependency (SMTP, message bus, API bên thứ ba) — không mock command ghi vào DB nội bộ.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2003027"/>
            <a:ext cx="5434373" cy="2937470"/>
          </a:xfrm>
          <a:custGeom>
            <a:avLst/>
            <a:gdLst/>
            <a:ahLst/>
            <a:cxnLst/>
            <a:rect l="l" t="t" r="r" b="b"/>
            <a:pathLst>
              <a:path w="5434373" h="2937470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2813424"/>
                </a:lnTo>
                <a:arcTo wR="124044" hR="124047" stAng="0" swAng="5400000"/>
                <a:lnTo>
                  <a:pt x="0" y="2937470"/>
                </a:lnTo>
                <a:lnTo>
                  <a:pt x="0" y="0"/>
                </a:lnTo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5848" y="2003027"/>
            <a:ext cx="19050" cy="2937470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1142" y="2168327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QUERY → STUB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1142" y="2526009"/>
            <a:ext cx="5103784" cy="135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có side effect, có trả về giá trị.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Ví dụ: findById(), getPrice(), calculateTotal().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when/thenReturn để cung cấp dữ liệu.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BAO GIỜ verify() trên Query/Stub.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5126534"/>
            <a:ext cx="10868745" cy="1349673"/>
          </a:xfrm>
          <a:prstGeom prst="roundRect">
            <a:avLst>
              <a:gd name="adj" fmla="val 1102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55431"/>
            <a:ext cx="258359" cy="2066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50423" y="5333106"/>
            <a:ext cx="1011450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Tóm tắt 1 câu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50423" y="5756870"/>
            <a:ext cx="1011450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 làm thay đổi trạng thái bên ngoài (command) → Mock. Method chỉ truy vấn dữ liệu (query) → Stub. DB nội bộ không phải "thế giới bên ngoài".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1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Java Code: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 vs. Stub</a:t>
            </a: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với Mockito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487884"/>
            <a:ext cx="5470785" cy="4215209"/>
          </a:xfrm>
          <a:prstGeom prst="roundRect">
            <a:avLst>
              <a:gd name="adj" fmla="val 5650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65318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STUB — Query Method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076945"/>
            <a:ext cx="5140196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</a:t>
            </a:r>
            <a:r>
              <a:rPr lang="en-US" sz="1300" dirty="0">
                <a:solidFill>
                  <a:srgbClr val="1E3063"/>
                </a:solidFill>
                <a:highlight>
                  <a:srgbClr val="DBE1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when/thenReturn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để cung cấp data. KHÔNG </a:t>
            </a:r>
            <a:r>
              <a:rPr lang="en-US" sz="1300" dirty="0">
                <a:solidFill>
                  <a:srgbClr val="1E3063"/>
                </a:solidFill>
                <a:highlight>
                  <a:srgbClr val="DBE1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trên stub.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7710" y="2804913"/>
            <a:ext cx="5140196" cy="2712145"/>
          </a:xfrm>
          <a:prstGeom prst="roundRect">
            <a:avLst>
              <a:gd name="adj" fmla="val 5488"/>
            </a:avLst>
          </a:prstGeom>
          <a:solidFill>
            <a:srgbClr val="DBE1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6142" y="2970213"/>
            <a:ext cx="4743331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STUB: cung cấp data cho query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when(userRepo.findById(1L))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.thenReturn(new User("Alice"));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result = sut.getUser(1L);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assertThat(result.getName())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.isEqualTo("Alice");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Không verify() — đây là stub!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165318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 — Command Method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2076945"/>
            <a:ext cx="5232666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để xác minh command đã được gọi. Đây là outgoing interaction.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2804913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2337" y="2970213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MOCK: xác minh command được gọi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sut.registerUser(new User("Bob"));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verify(emailService)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.sendWelcomeEmail("Bob");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verify() chỉ dùng cho Mock/Command!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568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Hành Vi Quan Sát Được vs.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Chi Tiết Triển Khai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490463"/>
            <a:ext cx="5470785" cy="2499122"/>
          </a:xfrm>
          <a:prstGeom prst="roundRect">
            <a:avLst>
              <a:gd name="adj" fmla="val 9530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65576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Hành Vi Quan Sát Được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079525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Những gì hệ thống làm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cho client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của nó — đây là thứ duy nhất test nên kiểm tra.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2757586"/>
            <a:ext cx="5140196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Tính toán và trả về giá trị (price, total, discount)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Thay đổi trạng thái hệ thống có thể quan sát từ ngoài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Kích hoạt side effect bên ngoài (send email, ghi log khi log là yêu cầu nghiệp vụ)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65576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Chi Tiết Triển Khai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079525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Hệ thống thực hiện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như thế nào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test không nên phụ thuộc vào phần này.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757586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Cấu trúc dữ liệu nội bộ và private field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Private method và helper method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Các object trung gian được tạo ra trong quá trình xử lý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175620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415334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438219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Nguyên tắc thực tiễn: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 chỉ gắn với hành vi quan sát được (observable behavior) từ bên ngoài; phần còn lại có thể thay đổi tùy ý.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83434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9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Liên hệ với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Hexagonal Architecture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498600"/>
            <a:ext cx="6350000" cy="3544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66000" y="1498600"/>
            <a:ext cx="1958870" cy="245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Bên Trong Hexagon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66000" y="1820252"/>
            <a:ext cx="416560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Domain Logic &amp; Entities hoàn toàn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không phụ thuộc vào framework, network hay database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Đây là nơi viết Output-Based Test thuần túy.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66000" y="2817301"/>
            <a:ext cx="2992807" cy="245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Bên Ngoài Hexagon (Adapters)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3138953"/>
            <a:ext cx="2806859" cy="242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Unmanaged Adapters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NÊN mock: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6000" y="3432705"/>
            <a:ext cx="4165600" cy="1041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SMTP Gateway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Message Queue (Kafka/RabbitMQ)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REST API bên thứ ba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Payment Gateway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66000" y="4600952"/>
            <a:ext cx="4582986" cy="242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Managed Adapters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KHÔNG mock, dùng integration test: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66000" y="4894704"/>
            <a:ext cx="4165600" cy="775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Adapter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 System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Internal Cache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0400" y="5245986"/>
            <a:ext cx="6350000" cy="508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Chỉ mock tại ranh giới với các dependency không do mình quản lý (unmanaged dependency) — Database Adapter nên test bằng integration test với DB thật.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4019"/>
            <a:ext cx="1175018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3627"/>
            <a:ext cx="158617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QUY TẮC VÀNG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15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Quy Tắc Quan Trọng Nhất: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 Ở Đâu?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1486297"/>
            <a:ext cx="5470785" cy="1803201"/>
          </a:xfrm>
          <a:prstGeom prst="roundRect">
            <a:avLst>
              <a:gd name="adj" fmla="val 9890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7710" y="165159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Intra-system — Bên Trong Ứng Dụng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2075359"/>
            <a:ext cx="5140196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Giao tiếp giữa các class trong cùng codebase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Đây là IMPLEMENTATION DETAIL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KHÔNG dùng mock → khiến test phụ thuộc vào cấu trúc code → test dễ vỡ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165159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Inter-system — Vượt Ranh Giới Ứng Dụng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3" y="2075359"/>
            <a:ext cx="5602547" cy="12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Giao tiếp với external system: SMTP server, Message Bus, REST API bên thứ ba, Payment gateway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Đây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là UNMANAGED dependency — ứng dụng không kiểm soát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NÊN dùng mock → verify side effect mà hệ thống bên ngoài nhìn thấy được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33100" r="32800"/>
          <a:stretch>
            <a:fillRect/>
          </a:stretch>
        </p:blipFill>
        <p:spPr>
          <a:xfrm>
            <a:off x="5190497" y="3280540"/>
            <a:ext cx="2177755" cy="226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98395" y="3799950"/>
            <a:ext cx="20132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Inter-system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3298395" y="4104750"/>
            <a:ext cx="201324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Vượt ranh giới ứng dụng - NÊN dùng mock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60679" y="4173821"/>
            <a:ext cx="20132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Intra-system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660678" y="4478621"/>
            <a:ext cx="4053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Bên trong ứng </a:t>
            </a:r>
            <a:r>
              <a:rPr lang="en-US" sz="15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dụng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-KHÔNG dùng mock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2415" y="5677822"/>
            <a:ext cx="5553585" cy="838200"/>
          </a:xfrm>
          <a:prstGeom prst="roundRect">
            <a:avLst>
              <a:gd name="adj" fmla="val 2250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57" y="5826770"/>
            <a:ext cx="206667" cy="16529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2407" y="5771370"/>
            <a:ext cx="538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Quy Tắc 1 Câu: Mock chỉ có giá trị khi verify một hành vi vượt qua ranh giới ứng dụng và có side effect nhìn thấy được từ bên ngoài.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67199" y="5677822"/>
            <a:ext cx="5722388" cy="838200"/>
          </a:xfrm>
          <a:prstGeom prst="roundRect">
            <a:avLst>
              <a:gd name="adj" fmla="val 16076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0497" y="7206755"/>
            <a:ext cx="206667" cy="1652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9612" y="5686992"/>
            <a:ext cx="5722388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Lưu ý quan trọng: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Database nội bộ (managed dependency) KHÔNG nên mock — hãy test bằng integration test với DB thật. Chỉ mock những gì ứng dụng không kiểm soát được.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1234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b="957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404019"/>
            <a:ext cx="1022721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0691" y="453627"/>
            <a:ext cx="143387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 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721519"/>
            <a:ext cx="6296860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🖥️</a:t>
            </a: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Tác hại của việc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verify stub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14224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1689100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1475" y="177800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Khởi Điểm: Test Dùng verify() Trên Repository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2108200"/>
            <a:ext cx="6296860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Lấy một Java test đang dùng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verify(repo).findById()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đang verify nhầm trên stub.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25400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2806700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1475" y="289560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Refactor Production Code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1475" y="3225800"/>
            <a:ext cx="6296860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Đổi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thành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getUserByEmail()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trong production code — logic vẫn đúng hoàn toàn.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1475" y="39243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1475" y="4191000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1475" y="427990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 fail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1475" y="4610100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đỏ ngay lập tức dù tính năng vẫn hoạt động đúng — đây là false positive kinh điển.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1475" y="52959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1475" y="5562600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1475" y="565150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Cách sửa: bỏ lệnh verify trên stub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1475" y="5981700"/>
            <a:ext cx="6296860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Loại bỏ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verify(repo)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test trở lại xanh và có khả năng chống chịu refactoring tốt.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14790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569468"/>
            <a:ext cx="903166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32577" y="2619077"/>
            <a:ext cx="131431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CHƯƠNG 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886968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 Phong Cách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Unit Testing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5481401" y="3837781"/>
            <a:ext cx="66584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"Chọn đúng phong cách test quyết định phần lớn giá trị (ROI) của bộ test."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3651746"/>
            <a:ext cx="19050" cy="636687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8383"/>
            <a:ext cx="1168172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7994"/>
            <a:ext cx="157932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PHONG CÁCH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588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Output-Based Testing —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Cho chất lượng test cao nhất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39490"/>
            <a:ext cx="5119857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Khái niệm: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Đưa input vào SUT và kiểm tra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giá trị output trả về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SUT không thay đổi state, không có side effect.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Điều kiện tiên quyết: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Code phải viết dưới dạng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pure function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(theo phong cách functional) — side effect phải được tách ra hoàn toàn.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032820"/>
            <a:ext cx="5119857" cy="909439"/>
          </a:xfrm>
          <a:prstGeom prst="roundRect">
            <a:avLst>
              <a:gd name="adj" fmla="val 1636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3278881"/>
            <a:ext cx="206667" cy="1652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731" y="3222922"/>
            <a:ext cx="441730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Đây là phong cách testing lý tưởng nhất. Khi refactor, hãy hướng tới tăng tỷ lệ code test được theo cách này.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b="11625"/>
          <a:stretch>
            <a:fillRect/>
          </a:stretch>
        </p:blipFill>
        <p:spPr>
          <a:xfrm>
            <a:off x="6191095" y="1676697"/>
            <a:ext cx="5345376" cy="47241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88248" y="3172668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2150" dirty="0"/>
          </a:p>
        </p:txBody>
      </p:sp>
      <p:sp>
        <p:nvSpPr>
          <p:cNvPr id="11" name="Shape 7"/>
          <p:cNvSpPr/>
          <p:nvPr/>
        </p:nvSpPr>
        <p:spPr>
          <a:xfrm>
            <a:off x="6191095" y="4597499"/>
            <a:ext cx="330688" cy="330696"/>
          </a:xfrm>
          <a:prstGeom prst="roundRect">
            <a:avLst>
              <a:gd name="adj" fmla="val 4501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53056" y="4633615"/>
            <a:ext cx="206667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87077" y="4633615"/>
            <a:ext cx="48493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Khả Năng Chống Chịu Refactoring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b="11625"/>
          <a:stretch>
            <a:fillRect/>
          </a:stretch>
        </p:blipFill>
        <p:spPr>
          <a:xfrm>
            <a:off x="6191095" y="1676697"/>
            <a:ext cx="5345376" cy="47241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24235" y="2170361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2150" dirty="0"/>
          </a:p>
        </p:txBody>
      </p:sp>
      <p:sp>
        <p:nvSpPr>
          <p:cNvPr id="16" name="Shape 11"/>
          <p:cNvSpPr/>
          <p:nvPr/>
        </p:nvSpPr>
        <p:spPr>
          <a:xfrm>
            <a:off x="6191095" y="5176241"/>
            <a:ext cx="330688" cy="330696"/>
          </a:xfrm>
          <a:prstGeom prst="roundRect">
            <a:avLst>
              <a:gd name="adj" fmla="val 4501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253056" y="5212358"/>
            <a:ext cx="206667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87077" y="5212358"/>
            <a:ext cx="48493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Tốc Độ Thực Thi</a:t>
            </a:r>
            <a:endParaRPr lang="en-US" sz="1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b="11625"/>
          <a:stretch>
            <a:fillRect/>
          </a:stretch>
        </p:blipFill>
        <p:spPr>
          <a:xfrm>
            <a:off x="6191095" y="1676697"/>
            <a:ext cx="5345376" cy="47241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460123" y="3172668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2150" dirty="0"/>
          </a:p>
        </p:txBody>
      </p:sp>
      <p:sp>
        <p:nvSpPr>
          <p:cNvPr id="21" name="Shape 15"/>
          <p:cNvSpPr/>
          <p:nvPr/>
        </p:nvSpPr>
        <p:spPr>
          <a:xfrm>
            <a:off x="6191095" y="5754984"/>
            <a:ext cx="330688" cy="330696"/>
          </a:xfrm>
          <a:prstGeom prst="roundRect">
            <a:avLst>
              <a:gd name="adj" fmla="val 4501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253056" y="5791100"/>
            <a:ext cx="206667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87077" y="5791100"/>
            <a:ext cx="48493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Khả Năng Bảo Trì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09981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2034"/>
            <a:ext cx="1189603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1643"/>
            <a:ext cx="160075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PHONG CÁCH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195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State-Based Testing —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Thực Dụng &amp; Phổ Biến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30234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Cơ Chế Hoạt Động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1808856"/>
            <a:ext cx="10868745" cy="72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Thực thi một thao tác, sau đó kiểm tra trạng thái của SUT, collaborator hoặc dependency bên ngoài.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Ví dụ: Gọi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order.addProduct(product)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kiểm tra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order.getProducts()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có chứa sản phẩm đó.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2415" y="2722859"/>
            <a:ext cx="5470785" cy="1878905"/>
          </a:xfrm>
          <a:prstGeom prst="roundRect">
            <a:avLst>
              <a:gd name="adj" fmla="val 1267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7710" y="288815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Ưu Điểm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710" y="3311922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cần mock → ít phụ thuộc vào implementation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Dễ đọc và bảo trì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Phù hợp với hầu hết business logic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 đúng kết quả thay vì cách thực hiện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288815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311922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Chỉ kiểm tra được state nằm trong bộ nhớ (in-memory)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phù hợp để verify side effect ra ngoài hệ thống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Đôi khi cần setup state phức tạp hơn Output-Based Testing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7888"/>
            <a:ext cx="1193076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7497"/>
            <a:ext cx="160422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PHONG CÁCH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5388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Communication-Based Testing —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Phương Án Cuối Cùng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0689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Khái niệm: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Dùng mock để xác minh tương tác giữa SUT và các collaborator. Phong cách này tập trung vào </a:t>
            </a: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cách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các component giao tiếp thay vì </a:t>
            </a: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kết quả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của sự giao tiếp đó.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722165"/>
            <a:ext cx="3512653" cy="1746746"/>
          </a:xfrm>
          <a:prstGeom prst="roundRect">
            <a:avLst>
              <a:gd name="adj" fmla="val 85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288746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Khả năng bảo trì kém nhất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3245147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Mỗi thay đổi internal implementation buộc phải sửa lại phần setup/verify mock → tốn công bảo trì liên tục.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2722165"/>
            <a:ext cx="3512752" cy="1746746"/>
          </a:xfrm>
          <a:prstGeom prst="roundRect">
            <a:avLst>
              <a:gd name="adj" fmla="val 85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4716" y="2887463"/>
            <a:ext cx="318216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Khả năng chống chịu refactoring kém nhất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4716" y="3503611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Gắn chặt với implementation detail — bất kỳ refactoring nào cũng có thể phá vỡ test dù logic vẫn đúng.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7468" y="2722165"/>
            <a:ext cx="3512653" cy="1746746"/>
          </a:xfrm>
          <a:prstGeom prst="roundRect">
            <a:avLst>
              <a:gd name="adj" fmla="val 85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2762" y="288746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Khi Nào Dùng?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3245147"/>
            <a:ext cx="3182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Chỉ dùng như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phương án cuối cùng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cho unmanaged dependency (SMTP, message bus, API bên thứ ba) không thể dùng bản thật trong test.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9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Bảng Tổng Hợp: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 Phong Cách × 4 Trụ Cột</a:t>
            </a:r>
            <a:endParaRPr lang="en-US" sz="3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241160"/>
              </p:ext>
            </p:extLst>
          </p:nvPr>
        </p:nvGraphicFramePr>
        <p:xfrm>
          <a:off x="661475" y="1577379"/>
          <a:ext cx="10868744" cy="3415422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Tiêu chí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Output-based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State-based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Communication-based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Khả năng chống regression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Tốt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Tốt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Tốt, nhưng dễ hời hợt nếu lạm dụng mock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Khả năng chống chịu refactoring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Tốt nhất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Tốt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Kém nhất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Tốc độ Phản hồi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Nhanh nhất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Nhanh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Nhanh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Khả năng Bảo trì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Tốt nhất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Trung bình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Tốn công nhất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Khi nào dùng?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Ưu tiên số 1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Mặc định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Phương án cuối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1916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5453559"/>
            <a:ext cx="3512653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1475" y="557430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Output-based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5931991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luôn ưu tiên hàng đầu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39422" y="51916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9422" y="5453559"/>
            <a:ext cx="3512752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39422" y="5574308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State-based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39422" y="5931991"/>
            <a:ext cx="351275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lựa chọn thực dụng khi không áp dụng được output-based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17468" y="51916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17468" y="5453559"/>
            <a:ext cx="3512653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17468" y="557430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Communication-based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17468" y="5931991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chỉ khi không còn lựa chọn nào khác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49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Pure Function /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Functional Architecture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7241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Chiến lược cốt lõi: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Tách biệt hoàn toàn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logic nghiệp vụ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khỏi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side effect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đây là chìa khóa để đạt được Output-Based Testing tối đa.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6100"/>
              </p:ext>
            </p:extLst>
          </p:nvPr>
        </p:nvGraphicFramePr>
        <p:xfrm>
          <a:off x="661475" y="2023070"/>
          <a:ext cx="10868745" cy="1969146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E2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Thành Phần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E2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Vai Trò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E2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Test Style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Functional Core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Domain logic thuần (pure) — nhận input, trả output, không side effect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100% Output-Based Testing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Mutable Shell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Xử lý I/O, load data từ DB/API, áp dụng side effect ra thế giới bên ngoài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Một số ít integration test</a:t>
                      </a:r>
                      <a:endParaRPr lang="en-US" sz="13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4191000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430713"/>
            <a:ext cx="206667" cy="165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731" y="4397572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Functional Core được bao bọc bởi Mutable Shell — Shell càng mỏng, tỷ lệ Output-Based Test càng cao, và chất lượng tổng thể của bộ test càng tốt.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412551"/>
            <a:ext cx="1026095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0691" y="462160"/>
            <a:ext cx="143724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730052"/>
            <a:ext cx="6296860" cy="104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🖥️</a:t>
            </a: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Chuyển Đổi Communication-Based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sang Output-Based</a:t>
            </a:r>
            <a:endParaRPr lang="en-US" sz="3250" dirty="0"/>
          </a:p>
        </p:txBody>
      </p:sp>
      <p:sp>
        <p:nvSpPr>
          <p:cNvPr id="6" name="Shape 3"/>
          <p:cNvSpPr/>
          <p:nvPr/>
        </p:nvSpPr>
        <p:spPr>
          <a:xfrm>
            <a:off x="542415" y="2024261"/>
            <a:ext cx="3184842" cy="3201988"/>
          </a:xfrm>
          <a:prstGeom prst="roundRect">
            <a:avLst>
              <a:gd name="adj" fmla="val 7478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7710" y="2189559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Trước Khi Refactor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7710" y="2613322"/>
            <a:ext cx="2854254" cy="255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phải mock file reader để cung cấp input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Tính toán giá trị phức tạp bên trong service (không thể test riêng)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Mock một file writer để kiểm tra output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Kết quả: 3-4 mock, setup phức tạp, test dễ vỡ (brittle)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17961" y="2189559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Sau Khi Refactor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17961" y="2613322"/>
            <a:ext cx="2946723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Tách phần tính toán thành một class Java thuần, không có dependency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Shell mỏng chỉ xử lý đọc/ghi file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Viết output-based test cho core logic, không cần mock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Kết quả: test ngắn gọn, nhanh, và bền vững khi refactor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00080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8281284" y="1920478"/>
            <a:ext cx="895030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380501" y="1970088"/>
            <a:ext cx="130618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CHƯƠNG 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81284" y="2237978"/>
            <a:ext cx="3248936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Refactor để hướng tới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unit test có giá trị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8529325" y="4222254"/>
            <a:ext cx="30008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"Bạn không thể viết test chất lượng cao trên nền code được thiết kế kém."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81284" y="4036219"/>
            <a:ext cx="19050" cy="901303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9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Bốn quadrant của production code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2240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Production code được phân loại dựa trên hai chiều: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Độ phức tạp Domain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(độ phức tạp của logic nghiệp vụ) và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Số lượng Collaborator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(số external dependency). Mỗi quadrant yêu cầu chiến lược test khác nhau.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545" y="2108200"/>
            <a:ext cx="7690908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52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79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Đọc Hiểu Ma Trận: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Chiến Lược Cho Từng Quadrant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65374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85491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Domain Model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543175"/>
            <a:ext cx="533098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Phức tạp cao, ít collaborator.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Đây là vùng vàng — viết unit test (ưu tiên output-based). Business rules thuần túy, không phụ thuộc external system.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1565374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132" y="2185491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Overcomplicated Code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99132" y="2543175"/>
            <a:ext cx="533108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Phức tạp cao, nhiều collaborator.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Đây là vùng nguy hiểm nhất — không thể test tốt. Cần tách thành domain model + controller (Humble Object Pattern).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67720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287838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Trivial Code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4645520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Phức tạp thấp, ít collaborator.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Getter/setter, constructor đơn giản. ROI của test quá thấp — không cần đầu tư test cho vùng này.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3667720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9132" y="4287838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Controllers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99132" y="4645520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Phức tạp thấp, nhiều collaborator.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Orchestrator điều phối I/O. Dùng Integration Test thay vì Unit Test — kiểm tra kết nối thực tế.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9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Tách Overcomplicated Code: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Humble Object Pattern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422400"/>
            <a:ext cx="5470785" cy="2499122"/>
          </a:xfrm>
          <a:prstGeom prst="roundRect">
            <a:avLst>
              <a:gd name="adj" fmla="val 9530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58750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Vấn Đề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006600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chứa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logic phức tạp xen lẫn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external dependency (DB call, API call, file I/O) thì không thể test độc lập.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2692400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Logic và infrastructure bị trộn lẫn (tightly coupled)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thể test logic mà không khởi động database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Phải mock quá nhiều → test dễ vỡ (brittle), khó bảo trì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58750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Giải Pháp: Humble Object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00660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Tách biệt infrastructure ra khỏi logic nghiệp vụ: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425700"/>
            <a:ext cx="5232666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Tạo một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Humble Object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orchestrator/controller không chứa bất kỳ business logic nào, chỉ điều phối infrastructure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Nhờ đó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core logic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được cô lập, thuần túy, và dễ kiểm thử bằng Output-Based Test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Kết quả: test ngắn gọn, nhanh, đáng tin cậy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987" y="4064000"/>
            <a:ext cx="6464025" cy="2336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334709" y="5837614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Humble Object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334709" y="5131530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Tách Logic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334709" y="4417041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Nhận diện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403919"/>
            <a:ext cx="1030063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0691" y="453529"/>
            <a:ext cx="144121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 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721419"/>
            <a:ext cx="6296860" cy="104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🖥️</a:t>
            </a: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Humble Object Pattern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Trong Thực Tế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2015629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Kịch bản: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Một legacy Java class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truy cập trực tiếp database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tính toán loyalty tier của user, và ghi log — tất cả trong một method duy nhất. Không thể test mà không có DB.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29955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3257450"/>
            <a:ext cx="3065783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1475" y="3378200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Trích Xuất Công Thức Loyalty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1475" y="3735884"/>
            <a:ext cx="3065783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Tách toàn bộ logic tính loyalty tier thành một pure Java class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LoyaltyCalculator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không có bất kỳ dependency nào.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92552" y="29955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92552" y="3257450"/>
            <a:ext cx="3065783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92552" y="3378200"/>
            <a:ext cx="30657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Tạo Controller Sạch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92552" y="3735884"/>
            <a:ext cx="3065783" cy="8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Tạo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LoyaltyController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(Humble Object) chỉ xử lý việc lấy dữ liệu từ DB và gọi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LoyaltyCalculator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1475" y="484445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1475" y="5106391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1475" y="5227141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Chứng Minh Kết Quả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1475" y="5584825"/>
            <a:ext cx="6296860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Viết Output-Based Test cho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LoyaltyCalculator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không có mock, không có DB, chạy trong vài mili-giây.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311102"/>
            <a:ext cx="924795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0691" y="2360712"/>
            <a:ext cx="133594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CHƯƠNG 11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628602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Anti-Pattern Phổ Biến Trong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Unit Testing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909516" y="4096147"/>
            <a:ext cx="66584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"Cùng nhận diện và loại bỏ những thói quen xấu thường gặp khi viết unit test."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910112"/>
            <a:ext cx="19050" cy="636687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5606"/>
            <a:ext cx="1251613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5215"/>
            <a:ext cx="166276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ANTI-PATTERN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31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 Private Method —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Bẫy Kinh Điển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305916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Sai Lầm Thường Gặp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1812429"/>
            <a:ext cx="11478330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Java reflection hoặc thay đổi visibility (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/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package-private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chỉ để chạy test trực tiếp trên một private helper method.</a:t>
            </a:r>
            <a:endParaRPr lang="en-US" sz="1300" dirty="0"/>
          </a:p>
        </p:txBody>
      </p:sp>
      <p:sp>
        <p:nvSpPr>
          <p:cNvPr id="9" name="Label 9"/>
          <p:cNvSpPr txBox="1"/>
          <p:nvPr/>
        </p:nvSpPr>
        <p:spPr>
          <a:xfrm>
            <a:off x="660400" y="23368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vi-VN" sz="1400" dirty="0">
                <a:solidFill>
                  <a:srgbClr val="B4231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Sai: </a:t>
            </a:r>
            <a:r>
              <a:rPr lang="vi-VN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trực tiếp private method</a:t>
            </a:r>
          </a:p>
        </p:txBody>
      </p:sp>
      <p:sp>
        <p:nvSpPr>
          <p:cNvPr id="10" name="Label 10"/>
          <p:cNvSpPr txBox="1"/>
          <p:nvPr/>
        </p:nvSpPr>
        <p:spPr>
          <a:xfrm>
            <a:off x="6197600" y="23368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vi-VN" sz="1400" dirty="0">
                <a:solidFill>
                  <a:srgbClr val="157F3C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Đúng: </a:t>
            </a:r>
            <a:r>
              <a:rPr lang="vi-VN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qua hành vi quan sát được</a:t>
            </a:r>
          </a:p>
        </p:txBody>
      </p:sp>
      <p:sp>
        <p:nvSpPr>
          <p:cNvPr id="11" name="Code Sai"/>
          <p:cNvSpPr/>
          <p:nvPr/>
        </p:nvSpPr>
        <p:spPr>
          <a:xfrm>
            <a:off x="660400" y="2667000"/>
            <a:ext cx="5334000" cy="2514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77800" tIns="152400" rIns="127000" bIns="1270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Gọi thẳng private method qua reflection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discount_isTenPercent() throws Exception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 m = PriceService.class.getDeclaredMethod(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"calcDiscount", Order.class);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m.setAccessible(true);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BigDecimal d = (BigDecimal) m.invoke(service, order);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assertEquals(new BigDecimal("10.00"), d);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2" name="Code Dung"/>
          <p:cNvSpPr/>
          <p:nvPr/>
        </p:nvSpPr>
        <p:spPr>
          <a:xfrm>
            <a:off x="6197600" y="2667000"/>
            <a:ext cx="5334000" cy="2514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77800" tIns="152400" rIns="127000" bIns="1270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Kiểm tra kết quả qua public API của SUT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vipOrder_getsTenPercentDiscount()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order = new Order(CustomerType.VIP,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new BigDecimal("100.00"));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BigDecimal total = service.checkout(order);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assertEquals(new BigDecimal("90.00"), total);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3" name="Note"/>
          <p:cNvSpPr/>
          <p:nvPr/>
        </p:nvSpPr>
        <p:spPr>
          <a:xfrm>
            <a:off x="660400" y="5384800"/>
            <a:ext cx="10871200" cy="71120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</p:spPr>
        <p:txBody>
          <a:bodyPr wrap="square" lIns="203200" tIns="101600" rIns="203200" bIns="1016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Cách sửa: 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private method qua hành vi public gọi đến nó. Nếu logic bên trong quá phức tạp, tách nó thành class riêng (ví dụ </a:t>
            </a:r>
            <a:r>
              <a:rPr lang="en-US" sz="1300" dirty="0">
                <a:solidFill>
                  <a:srgbClr val="1E30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DiscountCalculator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rồi test public API của class đó.</a:t>
            </a:r>
          </a:p>
        </p:txBody>
      </p:sp>
    </p:spTree>
    <p:extLst>
      <p:ext uri="{BB962C8B-B14F-4D97-AF65-F5344CB8AC3E}">
        <p14:creationId xmlns:p14="http://schemas.microsoft.com/office/powerpoint/2010/main" val="2975148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10765"/>
            <a:ext cx="1273044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60375"/>
            <a:ext cx="168419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ANTI-PATTERN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826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Để lộ private state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chỉ để phục vụ test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498600"/>
            <a:ext cx="10868745" cy="4064000"/>
          </a:xfrm>
          <a:prstGeom prst="roundRect">
            <a:avLst>
              <a:gd name="adj" fmla="val 726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1498600"/>
            <a:ext cx="5434373" cy="4064000"/>
          </a:xfrm>
          <a:custGeom>
            <a:avLst/>
            <a:gdLst/>
            <a:ahLst/>
            <a:cxnLst/>
            <a:rect l="l" t="t" r="r" b="b"/>
            <a:pathLst>
              <a:path w="5434373" h="2049463">
                <a:moveTo>
                  <a:pt x="124044" y="0"/>
                </a:moveTo>
                <a:lnTo>
                  <a:pt x="5434373" y="0"/>
                </a:lnTo>
                <a:lnTo>
                  <a:pt x="5434373" y="2049463"/>
                </a:lnTo>
                <a:lnTo>
                  <a:pt x="124044" y="2049463"/>
                </a:lnTo>
                <a:arcTo wR="124044" hR="124047" stAng="5400000" swAng="5400000"/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1658341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Sai: Thêm Getter Chỉ Để 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20193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Thêm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getItems()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public chỉ để test đọc list bên trong. Đổi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sang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là test fail.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1498600"/>
            <a:ext cx="5434373" cy="4064000"/>
          </a:xfrm>
          <a:custGeom>
            <a:avLst/>
            <a:gdLst/>
            <a:ahLst/>
            <a:cxnLst/>
            <a:rect l="l" t="t" r="r" b="b"/>
            <a:pathLst>
              <a:path w="5434373" h="2049463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1925416"/>
                </a:lnTo>
                <a:arcTo wR="124044" hR="124047" stAng="0" swAng="5400000"/>
                <a:lnTo>
                  <a:pt x="0" y="2049463"/>
                </a:lnTo>
                <a:lnTo>
                  <a:pt x="0" y="0"/>
                </a:lnTo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5848" y="1498600"/>
            <a:ext cx="19050" cy="4064000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1142" y="1658341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Đúng: Test Qua Observable Behavior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1142" y="20193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Assert qua API client thật sự dùng: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itemCount()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totalPrice()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Không cần getter riêng cho test.</a:t>
            </a:r>
            <a:endParaRPr lang="en-US" sz="1300" dirty="0"/>
          </a:p>
        </p:txBody>
      </p:sp>
      <p:sp>
        <p:nvSpPr>
          <p:cNvPr id="40" name="Code 40"/>
          <p:cNvSpPr/>
          <p:nvPr/>
        </p:nvSpPr>
        <p:spPr>
          <a:xfrm>
            <a:off x="825500" y="2565400"/>
            <a:ext cx="5105400" cy="2832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Cart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List&lt;Item&gt; items = new ArrayList&lt;&gt;();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 testing only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List&lt;Item&gt; getItems() { return items; 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addItem_addsToList()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cart.addItem(new Item("Book", 100));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assertEquals(1, cart.getItems().size());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41" name="Code 41"/>
          <p:cNvSpPr/>
          <p:nvPr/>
        </p:nvSpPr>
        <p:spPr>
          <a:xfrm>
            <a:off x="6261100" y="2565400"/>
            <a:ext cx="5105400" cy="2832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addItem_updatesTotalPrice()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cart.addItem(new Item("Book", 100));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cart.addItem(new Item("Pen", 20));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assertEquals(2, cart.itemCount());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assertEquals(120, cart.totalPrice());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75" y="5765800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6005513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97237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Dấu hiệu nhận biết: Bạn thêm một method public/getter và comment </a:t>
            </a:r>
            <a:r>
              <a:rPr lang="en-US" sz="130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"for testing only"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đây là anti-pattern cần tránh.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4465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1042"/>
            <a:ext cx="1276517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0651"/>
            <a:ext cx="168766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ANTI-PATTERN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18541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Code Pollution —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Thêm code chỉ phục vụ test vào production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993900"/>
            <a:ext cx="10868745" cy="3429000"/>
          </a:xfrm>
          <a:prstGeom prst="roundRect">
            <a:avLst>
              <a:gd name="adj" fmla="val 726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1993900"/>
            <a:ext cx="5434373" cy="3429000"/>
          </a:xfrm>
          <a:custGeom>
            <a:avLst/>
            <a:gdLst/>
            <a:ahLst/>
            <a:cxnLst/>
            <a:rect l="l" t="t" r="r" b="b"/>
            <a:pathLst>
              <a:path w="5434373" h="2049463">
                <a:moveTo>
                  <a:pt x="124044" y="0"/>
                </a:moveTo>
                <a:lnTo>
                  <a:pt x="5434373" y="0"/>
                </a:lnTo>
                <a:lnTo>
                  <a:pt x="5434373" y="2049463"/>
                </a:lnTo>
                <a:lnTo>
                  <a:pt x="124044" y="2049463"/>
                </a:lnTo>
                <a:arcTo wR="124044" hR="124047" stAng="5400000" swAng="5400000"/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216535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Sai: Thêm Logic Test Vào Production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25146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Flag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isTestEnvironment()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rẽ nhánh hành vi ngay trong production code để test bỏ qua gửi email.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1993900"/>
            <a:ext cx="5434373" cy="3429000"/>
          </a:xfrm>
          <a:custGeom>
            <a:avLst/>
            <a:gdLst/>
            <a:ahLst/>
            <a:cxnLst/>
            <a:rect l="l" t="t" r="r" b="b"/>
            <a:pathLst>
              <a:path w="5434373" h="2049463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1925416"/>
                </a:lnTo>
                <a:arcTo wR="124044" hR="124047" stAng="0" swAng="5400000"/>
                <a:lnTo>
                  <a:pt x="0" y="2049463"/>
                </a:lnTo>
                <a:lnTo>
                  <a:pt x="0" y="0"/>
                </a:lnTo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5848" y="1993900"/>
            <a:ext cx="19050" cy="3429000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1142" y="216535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Đúng: Dùng Dependency Injection &amp; Interface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1142" y="25146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Inject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EmailSender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qua constructor. Test truyền fake vào, production không cần biết có test.</a:t>
            </a:r>
            <a:endParaRPr lang="en-US" sz="1300" dirty="0"/>
          </a:p>
        </p:txBody>
      </p:sp>
      <p:sp>
        <p:nvSpPr>
          <p:cNvPr id="40" name="Code 40"/>
          <p:cNvSpPr/>
          <p:nvPr/>
        </p:nvSpPr>
        <p:spPr>
          <a:xfrm>
            <a:off x="825500" y="3060700"/>
            <a:ext cx="5105400" cy="2197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placeOrder(Order order)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orderRepo.save(order);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(!Config.isTestEnvironment()) {</a:t>
            </a: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test logic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emailClient.send(order.confirmation());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41" name="Code 41"/>
          <p:cNvSpPr/>
          <p:nvPr/>
        </p:nvSpPr>
        <p:spPr>
          <a:xfrm>
            <a:off x="6261100" y="3060700"/>
            <a:ext cx="5105400" cy="2197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OrderService(OrderRepository repo,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EmailSender sender) { ... 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placeOrder_sendsConfirmation()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sender = new FakeEmailSender();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OrderService(repo, sender).placeOrder(order);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assertEquals(1, sender.sentCount());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75" y="5626100"/>
            <a:ext cx="10868745" cy="736600"/>
          </a:xfrm>
          <a:prstGeom prst="roundRect">
            <a:avLst>
              <a:gd name="adj" fmla="val 16076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865812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832673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Nguyên tắc: Production code không bao giờ được biết nó đang chạy trong môi trường test. Nếu cần phân biệt, đó là dấu hiệu thiếu abstraction.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11041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7490"/>
            <a:ext cx="1280485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7100"/>
            <a:ext cx="169163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ANTI-PATTERN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49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Mock Concrete Class —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Rò Rỉ Implementation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485900"/>
            <a:ext cx="10868745" cy="3644900"/>
          </a:xfrm>
          <a:prstGeom prst="roundRect">
            <a:avLst>
              <a:gd name="adj" fmla="val 577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1485900"/>
            <a:ext cx="5434373" cy="3644900"/>
          </a:xfrm>
          <a:custGeom>
            <a:avLst/>
            <a:gdLst/>
            <a:ahLst/>
            <a:cxnLst/>
            <a:rect l="l" t="t" r="r" b="b"/>
            <a:pathLst>
              <a:path w="5434373" h="2578695">
                <a:moveTo>
                  <a:pt x="124044" y="0"/>
                </a:moveTo>
                <a:lnTo>
                  <a:pt x="5434373" y="0"/>
                </a:lnTo>
                <a:lnTo>
                  <a:pt x="5434373" y="2578695"/>
                </a:lnTo>
                <a:lnTo>
                  <a:pt x="124044" y="2578695"/>
                </a:lnTo>
                <a:arcTo wR="124044" hR="124047" stAng="5400000" swAng="5400000"/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165506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Sai Lầm: Mock Concrete Class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20066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Mock class thật (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làm test gắn chặt vào implementation;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spy()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còn có thể chạy logic thật.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1485900"/>
            <a:ext cx="5434373" cy="3644900"/>
          </a:xfrm>
          <a:custGeom>
            <a:avLst/>
            <a:gdLst/>
            <a:ahLst/>
            <a:cxnLst/>
            <a:rect l="l" t="t" r="r" b="b"/>
            <a:pathLst>
              <a:path w="5434373" h="2578695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2454649"/>
                </a:lnTo>
                <a:arcTo wR="124044" hR="124047" stAng="0" swAng="5400000"/>
                <a:lnTo>
                  <a:pt x="0" y="2578695"/>
                </a:lnTo>
                <a:lnTo>
                  <a:pt x="0" y="0"/>
                </a:lnTo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5848" y="1485900"/>
            <a:ext cx="19050" cy="3644900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1142" y="165506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Cách Sửa: Chỉ Mock Interface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1142" y="20066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Chỉ mock interface ở ranh giới ứng dụng (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NotificationPort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), và chỉ verify outgoing interaction.</a:t>
            </a:r>
            <a:endParaRPr lang="en-US" sz="1300" dirty="0"/>
          </a:p>
        </p:txBody>
      </p:sp>
      <p:sp>
        <p:nvSpPr>
          <p:cNvPr id="40" name="Code 40"/>
          <p:cNvSpPr/>
          <p:nvPr/>
        </p:nvSpPr>
        <p:spPr>
          <a:xfrm>
            <a:off x="825500" y="2552700"/>
            <a:ext cx="5105400" cy="24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register_sendsWelcomeEmail()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UserService users = spy(new UserService(db));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doReturn(true).when(users).isEmailFree("a@b.com");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sut.register("a@b.com");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verify(users).saveInternal(any());</a:t>
            </a: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internal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41" name="Code 41"/>
          <p:cNvSpPr/>
          <p:nvPr/>
        </p:nvSpPr>
        <p:spPr>
          <a:xfrm>
            <a:off x="6261100" y="2552700"/>
            <a:ext cx="5105400" cy="24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NotificationPort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sendWelcome(String email);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register_sendsWelcomeEmail()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port = mock(NotificationPort.class);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Registration(repo, port).register("a@b.com");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verify(port).sendWelcome("a@b.com");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75" y="5334000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573713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540572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Nguyên tắc: Nếu bạn cần mock một concrete class, đó là dấu hiệu thiết kế cần được cải thiện. Hãy tách ra một interface thể hiện rõ architectural boundary.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15435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4315"/>
            <a:ext cx="1276616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453925"/>
            <a:ext cx="168776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ANTI-PATTERN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2181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Quả bom hẹn giờ: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phụ thuộc vào thời gian hệ thống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1486595"/>
            <a:ext cx="5470785" cy="2706489"/>
          </a:xfrm>
          <a:prstGeom prst="roundRect">
            <a:avLst>
              <a:gd name="adj" fmla="val 8800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7710" y="165189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Vấn Đề: Non-Deterministic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2075656"/>
            <a:ext cx="5140196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</a:t>
            </a:r>
            <a:r>
              <a:rPr lang="en-US" sz="1300" dirty="0">
                <a:solidFill>
                  <a:srgbClr val="1E3063"/>
                </a:solidFill>
                <a:highlight>
                  <a:srgbClr val="DBE1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LocalDateTime.now()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bên trong domain method khiến kết quả test phụ thuộc vào thời điểm chạy — gây ra flaky test trong nightly build.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031034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pass lúc 10 giờ sáng nhưng fail lúc nửa đêm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 thỉnh thoảng fail mà không tái hiện được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Developer mất niềm tin vào toàn bộ test suite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165189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Giải Pháp: Inject 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2075656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Có hai cách tiếp cận an toàn: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2489100"/>
            <a:ext cx="5232666" cy="1141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Inject Clock: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Inject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java.time.Clock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qua constructor — test dùng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Clock.fixed()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Explicit Parameter: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Truyền thời điểm hiện tại vào method dưới dạng tham số — đơn giản và rõ ràng nhất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3904" y="3779638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Cả hai đều tạo ra test hoàn toàn deterministic và có thể kiểm soát.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97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Java Code: Fix Anti-Pattern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Về Thời Gian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67159"/>
            <a:ext cx="10868745" cy="3822700"/>
          </a:xfrm>
          <a:prstGeom prst="roundRect">
            <a:avLst>
              <a:gd name="adj" fmla="val 721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1475" y="1567159"/>
            <a:ext cx="5434373" cy="3822700"/>
          </a:xfrm>
          <a:custGeom>
            <a:avLst/>
            <a:gdLst/>
            <a:ahLst/>
            <a:cxnLst/>
            <a:rect l="l" t="t" r="r" b="b"/>
            <a:pathLst>
              <a:path w="5434373" h="2062163">
                <a:moveTo>
                  <a:pt x="124044" y="0"/>
                </a:moveTo>
                <a:lnTo>
                  <a:pt x="5434373" y="0"/>
                </a:lnTo>
                <a:lnTo>
                  <a:pt x="5434373" y="2062163"/>
                </a:lnTo>
                <a:lnTo>
                  <a:pt x="124044" y="2062163"/>
                </a:lnTo>
                <a:arcTo wR="124044" hR="124047" stAng="5400000" swAng="5400000"/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769" y="173245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Trước: LocalDateTime.now() Trực Tiếp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20574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và assert gọi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now()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hai lần, lệch nhau vài mili-giây, nên test fail ngẫu nhiên: </a:t>
            </a:r>
            <a:r>
              <a:rPr lang="vi-VN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flaky test kinh điển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67159"/>
            <a:ext cx="5434373" cy="3822700"/>
          </a:xfrm>
          <a:custGeom>
            <a:avLst/>
            <a:gdLst/>
            <a:ahLst/>
            <a:cxnLst/>
            <a:rect l="l" t="t" r="r" b="b"/>
            <a:pathLst>
              <a:path w="5434373" h="2062163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1938116"/>
                </a:lnTo>
                <a:arcTo wR="124044" hR="124047" stAng="0" swAng="5400000"/>
                <a:lnTo>
                  <a:pt x="0" y="2062163"/>
                </a:lnTo>
                <a:lnTo>
                  <a:pt x="0" y="0"/>
                </a:lnTo>
                <a:close/>
              </a:path>
            </a:pathLst>
          </a:cu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5848" y="1567159"/>
            <a:ext cx="19050" cy="3822700"/>
          </a:xfrm>
          <a:prstGeom prst="roundRect">
            <a:avLst>
              <a:gd name="adj" fmla="val 49999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1142" y="1732459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Sau: Inject java.time.Clock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1142" y="2057400"/>
            <a:ext cx="5103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Inject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Clock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qua constructor. Test dùng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Clock.fixed(...)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nên thời gian đứng yên: test </a:t>
            </a:r>
            <a:r>
              <a:rPr lang="vi-VN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deterministic 100%</a:t>
            </a:r>
            <a:r>
              <a:rPr lang="vi-VN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Code Truoc"/>
          <p:cNvSpPr/>
          <p:nvPr/>
        </p:nvSpPr>
        <p:spPr>
          <a:xfrm>
            <a:off x="825500" y="2603500"/>
            <a:ext cx="5105400" cy="261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Order createOrder(Cart cart)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Order(cart, LocalDateTime.now());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createOrder_setsCreatedAt()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order = sut.createOrder(cart);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assertEquals(LocalDateTime.now(),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order.getCreatedAt());</a:t>
            </a: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flaky!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5" name="Code Sau"/>
          <p:cNvSpPr/>
          <p:nvPr/>
        </p:nvSpPr>
        <p:spPr>
          <a:xfrm>
            <a:off x="6261100" y="2603500"/>
            <a:ext cx="5105400" cy="261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52400" tIns="127000" rIns="101600" bIns="1016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Order createOrder(Cart cart)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Order(cart, LocalDateTime.now(clock));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B35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createOrder_setsCreatedAt() {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sut = new OrderService(Clock.fixed(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Instant.parse("2024-01-15T10:00:00Z"), UTC));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assertEquals(LocalDateTime.of(2024, 1, 15, 10, 0),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sut.createOrder(cart).getCreatedAt());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1475" y="5588000"/>
            <a:ext cx="10868745" cy="660400"/>
          </a:xfrm>
          <a:prstGeom prst="roundRect">
            <a:avLst>
              <a:gd name="adj" fmla="val 1607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842000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98731" y="5651500"/>
            <a:ext cx="101661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java.time.Clock là cách chuẩn của Java để inject time dependency. Đây cũng là pattern phổ biến trong các dự án Spring Boot, thay vì dùng PowerMock để mock static method.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85955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b="13329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404019"/>
            <a:ext cx="1026293" cy="251420"/>
          </a:xfrm>
          <a:prstGeom prst="roundRect">
            <a:avLst>
              <a:gd name="adj" fmla="val 4736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32577" y="453627"/>
            <a:ext cx="143744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 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721519"/>
            <a:ext cx="6296860" cy="104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🖥️</a:t>
            </a: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Xử lý flaky test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 phụ thuộc thời gian</a:t>
            </a:r>
            <a:endParaRPr lang="en-US" sz="3250" dirty="0"/>
          </a:p>
        </p:txBody>
      </p:sp>
      <p:sp>
        <p:nvSpPr>
          <p:cNvPr id="6" name="Shape 3"/>
          <p:cNvSpPr/>
          <p:nvPr/>
        </p:nvSpPr>
        <p:spPr>
          <a:xfrm>
            <a:off x="5398754" y="2035175"/>
            <a:ext cx="165294" cy="969367"/>
          </a:xfrm>
          <a:prstGeom prst="roundRect">
            <a:avLst>
              <a:gd name="adj" fmla="val 5000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94736" y="1952427"/>
            <a:ext cx="56354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Tái Hiện Flaky Test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94736" y="2310109"/>
            <a:ext cx="56354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Minh họa test fail ngẫu nhiên trong nightly build — không tái hiện được khi chạy thủ công vào ban ngày.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46795" y="3202086"/>
            <a:ext cx="165294" cy="982067"/>
          </a:xfrm>
          <a:prstGeom prst="roundRect">
            <a:avLst>
              <a:gd name="adj" fmla="val 5000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42777" y="3119338"/>
            <a:ext cx="53874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Chẩn Đoán Nguyên Nhân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42777" y="3477022"/>
            <a:ext cx="5387443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Xác định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LocalDateTime.now()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là nguồn gốc của non-determinism — một phụ thuộc ẩn vào đồng hồ hệ thống.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94835" y="4381697"/>
            <a:ext cx="165294" cy="982067"/>
          </a:xfrm>
          <a:prstGeom prst="roundRect">
            <a:avLst>
              <a:gd name="adj" fmla="val 5000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90817" y="4298950"/>
            <a:ext cx="513940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Refactor với Fixed Clock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90817" y="4656634"/>
            <a:ext cx="5139403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Dùng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Clock.fixed()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hoặc truyền timestamp làm tham số — refactor method signature để loại bỏ phụ thuộc thời gian.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42975" y="5548609"/>
            <a:ext cx="165294" cy="969367"/>
          </a:xfrm>
          <a:prstGeom prst="roundRect">
            <a:avLst>
              <a:gd name="adj" fmla="val 5000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38957" y="5465861"/>
            <a:ext cx="48912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Cố định hành vi bằng test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38957" y="5823545"/>
            <a:ext cx="48912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Viết test deterministic với timestamp cố định — kết quả như nhau bất kể thời điểm chạy.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33360" y="1926629"/>
            <a:ext cx="496081" cy="496094"/>
          </a:xfrm>
          <a:prstGeom prst="ellipse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7381" y="2050652"/>
            <a:ext cx="248041" cy="24804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1401" y="3093541"/>
            <a:ext cx="496081" cy="496094"/>
          </a:xfrm>
          <a:prstGeom prst="ellipse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5421" y="3217565"/>
            <a:ext cx="248041" cy="24804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729442" y="4273152"/>
            <a:ext cx="496081" cy="496094"/>
          </a:xfrm>
          <a:prstGeom prst="ellipse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3462" y="4397177"/>
            <a:ext cx="248041" cy="248047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977582" y="5440065"/>
            <a:ext cx="496081" cy="496094"/>
          </a:xfrm>
          <a:prstGeom prst="ellipse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1602" y="5564088"/>
            <a:ext cx="248041" cy="24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86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15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Checklist Tổng Kết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Cho Tech Lead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7000"/>
            <a:ext cx="10868745" cy="1154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7192" y="181897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07294" y="1530350"/>
            <a:ext cx="98385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Đánh Giá 4 Trụ Cột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07294" y="1888489"/>
            <a:ext cx="9838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đã cân bằng tốt 4 trụ cột chưa? Luôn ưu tiên khả năng chống chịu refactoring, sau đó cân bằng khả năng chống regression và phản hồi nhanh tùy loại test. Trụ cột 4 (Bảo trì) luôn phải đạt.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78013"/>
            <a:ext cx="10868745" cy="9020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7192" y="297403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507294" y="2811363"/>
            <a:ext cx="98385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Kiểm Tra Mock Usage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07294" y="3169503"/>
            <a:ext cx="9838583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Mỗi mock đang dùng để verify command, hay chỉ cung cấp dữ liệu cho query (stub)? Không bao giờ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trên stub.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07110"/>
            <a:ext cx="10868745" cy="11540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7192" y="412908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507294" y="3840460"/>
            <a:ext cx="98385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Kiến Trúc Functional Core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07294" y="4198600"/>
            <a:ext cx="9838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Bạn đã phân tách codebase thành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Functional Core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(pure logic, Output-Based Test) và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Mutable Shell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(infrastructure, Integration Test) chưa?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88122"/>
            <a:ext cx="10868745" cy="11667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7192" y="541644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1507294" y="5121472"/>
            <a:ext cx="98385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Dọn Dẹp Anti-Pattern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507294" y="5479612"/>
            <a:ext cx="9838583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Xóa test private method, fix time dependency (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LocalDateTime.now()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), loại bỏ code pollution (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isTestEnvironment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), và thay mock concrete class bằng mock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92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Tổng Kết Kiến Thức: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Bức Tranh Toàn Cảnh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66663"/>
            <a:ext cx="8737381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9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Q&amp;A và Kế hoạch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áp dụng cho team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371600"/>
            <a:ext cx="5470785" cy="5003800"/>
          </a:xfrm>
          <a:prstGeom prst="roundRect">
            <a:avLst>
              <a:gd name="adj" fmla="val 4353"/>
            </a:avLst>
          </a:prstGeom>
          <a:solidFill>
            <a:srgbClr val="E8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52400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Các bước tiếp theo về kiến trúc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18542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7710" y="2095500"/>
            <a:ext cx="5140196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7710" y="217170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Xác Định Overcomplicated Zone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2463800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Vùng nào trong codebase hiện tại đang ở "Overcomplicated Zone" — phức tạp cao và nhiều collaborator? Đây là điểm khởi đầu cho refactoring sprint.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7710" y="34544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7710" y="3695700"/>
            <a:ext cx="5140196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7710" y="377190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Lên Lịch Refactoring Sprint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7710" y="4064000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Lên kế hoạch sprint áp dụng Humble Object Pattern — ưu tiên các class có technical debt (nợ kỹ thuật) cao nhất và ảnh hưởng nghiệp vụ lớn nhất.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7710" y="50546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7710" y="5295900"/>
            <a:ext cx="5140196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7710" y="537210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Thảo Luận Mở Cuối Buổi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7710" y="5664200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Chia sẻ các anti-pattern đang gặp trong codebase hiện tại và thống nhất coding convention cho test mới.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3904" y="158750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Câu Hỏi Thảo Luận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2032000"/>
            <a:ext cx="5232666" cy="13216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64446" y="2222500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Về Mock Strategy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64446" y="2641600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Trong project hiện tại, tỷ lệ Mock/Stub của team đang như thế nào?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3517900"/>
            <a:ext cx="5232666" cy="13216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64446" y="3708400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Về Test Flakiness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564446" y="4127500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Có flaky test nào trong nightly build có thể là time-dependent không?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5003800"/>
            <a:ext cx="5232666" cy="13216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64446" y="5194300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Về Kiến Trúc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564446" y="5613400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Functional Core / Mutable Shell có phù hợp với kiến trúc hiện tại của team?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27365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629" y="0"/>
            <a:ext cx="5068066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16343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Cảm Ơn! </a:t>
            </a:r>
            <a:r>
              <a:rPr lang="en-US" sz="3250" dirty="0">
                <a:solidFill>
                  <a:srgbClr val="1F6FC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Happy Testing!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928217"/>
            <a:ext cx="6296860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Pragmatic Unit Testing (Phần 2) </a:t>
            </a: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Java 17+ · JUnit 5 · Mockito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829520"/>
            <a:ext cx="3065783" cy="1482130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6769" y="2994819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Tài Liệu Tham Khảo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6769" y="3352502"/>
            <a:ext cx="27351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"Unit Testing: Principles, Practices, and Patterns"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Vladimir Khorikov. Tài liệu tham khảo chính của series.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92552" y="2829520"/>
            <a:ext cx="3065783" cy="1482130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57846" y="2994819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Practice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57846" y="3352502"/>
            <a:ext cx="27351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Áp dụng ngay 4 Trụ Cột để review 3 test file trong project hiện tại của bạn — đây là bài tập tốt nhất.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476948"/>
            <a:ext cx="6296860" cy="1217513"/>
          </a:xfrm>
          <a:prstGeom prst="roundRect">
            <a:avLst>
              <a:gd name="adj" fmla="val 1222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6769" y="4642247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Keep in Touch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6769" y="4999930"/>
            <a:ext cx="59662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Chia sẻ kết quả refactoring với team — mỗi Humble Object tách ra là một bước cải thiện chất lượng code.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2461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37EF0C4-669F-4E0F-9922-6133B2E299D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3bfbd23-5365-44c9-bc0e-80965025060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5164</Words>
  <Application>Microsoft Office PowerPoint</Application>
  <PresentationFormat>Widescreen</PresentationFormat>
  <Paragraphs>589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Instrument Sans Bold</vt:lpstr>
      <vt:lpstr>Instrument Sans SemiBold</vt:lpstr>
      <vt:lpstr>Arial</vt:lpstr>
      <vt:lpstr>Instrument Sans Medium</vt:lpstr>
      <vt:lpstr>Instrument Sans</vt:lpstr>
      <vt:lpstr>Noto Color Emoji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Tuấn Vũ</cp:lastModifiedBy>
  <cp:revision>3</cp:revision>
  <dcterms:created xsi:type="dcterms:W3CDTF">2026-09-24T23:15:19Z</dcterms:created>
  <dcterms:modified xsi:type="dcterms:W3CDTF">2026-09-25T00:44:17Z</dcterms:modified>
</cp:coreProperties>
</file>